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Разработка системы контроля удалённого доступа на основе анализа траектории изменения сигнала BLE-меток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2A33"/>
                </a:solidFill>
                <a:latin typeface="Arial"/>
              </a:rPr>
              <a:t>Выпускная квалификационная работа (магистерская диссертация)</a:t>
            </a:r>
          </a:p>
          <a:p>
            <a:r>
              <a:rPr sz="1600">
                <a:solidFill>
                  <a:srgbClr val="555F6D"/>
                </a:solidFill>
                <a:latin typeface="Arial"/>
              </a:rPr>
              <a:t>Направление 01.04.02 — Прикладная математика и информатика</a:t>
            </a:r>
          </a:p>
          <a:p>
            <a:r>
              <a:rPr sz="1600">
                <a:solidFill>
                  <a:srgbClr val="555F6D"/>
                </a:solidFill>
                <a:latin typeface="Arial"/>
              </a:rPr>
              <a:t/>
            </a:r>
          </a:p>
          <a:p>
            <a:r>
              <a:rPr sz="1600">
                <a:solidFill>
                  <a:srgbClr val="555F6D"/>
                </a:solidFill>
                <a:latin typeface="Arial"/>
              </a:rPr>
              <a:t>Выполнил(а): ________________________      Группа: __________</a:t>
            </a:r>
          </a:p>
          <a:p>
            <a:r>
              <a:rPr sz="1600">
                <a:solidFill>
                  <a:srgbClr val="555F6D"/>
                </a:solidFill>
                <a:latin typeface="Arial"/>
              </a:rPr>
              <a:t>Научный руководитель: ________________________</a:t>
            </a:r>
          </a:p>
          <a:p>
            <a:r>
              <a:rPr sz="1600">
                <a:solidFill>
                  <a:srgbClr val="555F6D"/>
                </a:solidFill>
                <a:latin typeface="Arial"/>
              </a:rPr>
              <a:t/>
            </a:r>
          </a:p>
          <a:p>
            <a:r>
              <a:rPr sz="1600">
                <a:solidFill>
                  <a:srgbClr val="555F6D"/>
                </a:solidFill>
                <a:latin typeface="Arial"/>
              </a:rPr>
              <a:t>Ханты-Мансийск,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Актуальность и постановка проблемы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Бесконтактные системы контроля доступа (СКУД) на базе BLE — доступ «по присутствию» носителя метки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Близость носителя оценивается по уровню сигнала RSSI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RSSI сильно зашумлён: переотражения, экранирование, помехи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Решение по порогу RSSI ненадёжно: ложные срабатывания, нет учёта направления, уязвимость к подмене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Решение: анализ ТРАЕКТОРИИ изменения сигнала во времени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Объект, предмет, цель 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Объект: системы контроля удалённого доступа на основе BLE-меток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Предмет: методы и алгоритмы анализа траектории RSSI для решения о доступе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Цель: разработать систему, принимающую решение по траектории сигнала, и подтвердить работоспособность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Задачи: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F6D"/>
                </a:solidFill>
                <a:latin typeface="Arial"/>
              </a:rPr>
              <a:t>–  обзор и выбор метода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F6D"/>
                </a:solidFill>
                <a:latin typeface="Arial"/>
              </a:rPr>
              <a:t>–  архитектура системы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F6D"/>
                </a:solidFill>
                <a:latin typeface="Arial"/>
              </a:rPr>
              <a:t>–  алгоритм анализа траектории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F6D"/>
                </a:solidFill>
                <a:latin typeface="Arial"/>
              </a:rPr>
              <a:t>–  программная реализация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555F6D"/>
                </a:solidFill>
                <a:latin typeface="Arial"/>
              </a:rPr>
              <a:t>–  тестирование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Сигнал RSSI и оценка расстояния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A33"/>
                </a:solidFill>
                <a:latin typeface="Arial"/>
              </a:rPr>
              <a:t>•  Модель затухания: RSSI = A − 10·n·lg(d); расстояние d = 10^((A−RSSI)/(10n))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A33"/>
                </a:solidFill>
                <a:latin typeface="Arial"/>
              </a:rPr>
              <a:t>•  Сигнал зашумлён и нестабилен → нужна фильтрация и анализ динамики</a:t>
            </a:r>
          </a:p>
        </p:txBody>
      </p:sp>
      <p:pic>
        <p:nvPicPr>
          <p:cNvPr id="5" name="Picture 4" descr="fig_1_1_rssi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080" y="2926080"/>
            <a:ext cx="5835534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37959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F6D"/>
                </a:solidFill>
                <a:latin typeface="Arial"/>
              </a:rPr>
              <a:t>Зависимость RSSI от расстояния при разных 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Архитектура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2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103120"/>
            <a:ext cx="10607040" cy="2885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33954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F6D"/>
                </a:solidFill>
                <a:latin typeface="Arial"/>
              </a:rPr>
              <a:t>метка → сканер → анализатор траектории → исполнитель (HM10 → RS-485) → замок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Алгоритм анализа траектории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A33"/>
                </a:solidFill>
                <a:latin typeface="Arial"/>
              </a:rPr>
              <a:t>•  Конвейер: RSSI → фильтр Калмана → оценка дистанции → тренд (МНК) → конечный автомат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A33"/>
                </a:solidFill>
                <a:latin typeface="Arial"/>
              </a:rPr>
              <a:t>•  Доступ выдаётся при устойчивом приближении носителя в зону</a:t>
            </a:r>
          </a:p>
        </p:txBody>
      </p:sp>
      <p:pic>
        <p:nvPicPr>
          <p:cNvPr id="5" name="Picture 4" descr="fig_2_2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07" y="2926080"/>
            <a:ext cx="521207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37959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F6D"/>
                </a:solidFill>
                <a:latin typeface="Arial"/>
              </a:rPr>
              <a:t>Граф состояний принятия решения о доступе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Программная реализация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Сканер и генератор BLE-меток: Python (bleak), Flutter (Android), iOS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Анализатор траектории — модуль trajectory.py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Мобильное приложение + модуль HM10 (мост BLE → RS-485), команда 10 байт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Идентификатор носителя — стабильный токен (не MAC) или динамический rolling-code (HMAC-SHA256)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Доп. канал доступа — по входящему звонку (номер в BCD)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Виртуальная база замков для воспроизводимого тестирования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Тестирование: имитационное моделирование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3_4_si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019" y="1828800"/>
            <a:ext cx="5747657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F6D"/>
                </a:solidFill>
                <a:latin typeface="Arial"/>
              </a:rPr>
              <a:t>При приближении носителя доступ предоставляется, при удалении — сбрасывается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Преимущество перед пороговым подходом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2_3_threshold_vs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02" y="1828800"/>
            <a:ext cx="698269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F6D"/>
                </a:solidFill>
                <a:latin typeface="Arial"/>
              </a:rPr>
              <a:t>Статичная метка: порог даёт ложные срабатывания, анализ траектории — нет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136"/>
                </a:solidFill>
                <a:latin typeface="Arial"/>
              </a:rP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926080" cy="38100"/>
          </a:xfrm>
          <a:prstGeom prst="rect">
            <a:avLst/>
          </a:prstGeom>
          <a:solidFill>
            <a:srgbClr val="2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Цель достигнута, все задачи решены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Новизна: анализ траектории (Калман + дистанция + тренд + автомат) вместо порога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Практическая значимость: программный комплекс для построения СКУД на BLE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Защищённость: динамический идентификатор (rolling-code) и журналирование; доп. канал — по звонку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Тестирование подтвердило работоспособность и устойчивость к ложным срабатываниям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A33"/>
                </a:solidFill>
                <a:latin typeface="Arial"/>
              </a:rPr>
              <a:t>•  Развитие: несколько приёмников, машинное обучение, протокол «запрос–ответ» против relay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42136"/>
                </a:solidFill>
                <a:latin typeface="Arial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