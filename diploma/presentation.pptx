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51592" y="5120640"/>
            <a:ext cx="3108960" cy="3108960"/>
          </a:xfrm>
          <a:prstGeom prst="ellipse">
            <a:avLst/>
          </a:prstGeom>
          <a:solidFill>
            <a:srgbClr val="0E2A47">
              <a:alpha val="0"/>
            </a:srgbClr>
          </a:solidFill>
          <a:ln w="17780">
            <a:solidFill>
              <a:srgbClr val="27C2B6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17352" y="5486400"/>
            <a:ext cx="2377440" cy="2377440"/>
          </a:xfrm>
          <a:prstGeom prst="ellipse">
            <a:avLst/>
          </a:prstGeom>
          <a:solidFill>
            <a:srgbClr val="0E2A47">
              <a:alpha val="0"/>
            </a:srgbClr>
          </a:solidFill>
          <a:ln w="17780">
            <a:solidFill>
              <a:srgbClr val="27C2B6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83112" y="5852160"/>
            <a:ext cx="1645920" cy="1645920"/>
          </a:xfrm>
          <a:prstGeom prst="ellipse">
            <a:avLst/>
          </a:prstGeom>
          <a:solidFill>
            <a:srgbClr val="0E2A47">
              <a:alpha val="0"/>
            </a:srgbClr>
          </a:solidFill>
          <a:ln w="17780">
            <a:solidFill>
              <a:srgbClr val="27C2B6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548872" y="6217920"/>
            <a:ext cx="914400" cy="914400"/>
          </a:xfrm>
          <a:prstGeom prst="ellipse">
            <a:avLst/>
          </a:prstGeom>
          <a:solidFill>
            <a:srgbClr val="0E2A47">
              <a:alpha val="0"/>
            </a:srgbClr>
          </a:solidFill>
          <a:ln w="17780">
            <a:solidFill>
              <a:srgbClr val="27C2B6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411480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МИНОБРНАУКИ РОССИИ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0" y="676656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Югорский государственный университет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0" y="1024128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Инженерная школа цифровых технологий · 01.04.02 Прикладная математика и информатика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814316" y="1481328"/>
            <a:ext cx="2560320" cy="18288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10" name="Text 8"/>
          <p:cNvSpPr/>
          <p:nvPr/>
        </p:nvSpPr>
        <p:spPr>
          <a:xfrm>
            <a:off x="0" y="1691640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50" kern="0" dirty="0">
                <a:solidFill>
                  <a:srgbClr val="27C2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ВЫПУСКНАЯ КВАЛИФИКАЦИОННАЯ РАБОТА · МАГИСТЕРСКАЯ ДИССЕРТАЦИЯ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05840" y="2148840"/>
            <a:ext cx="1017727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Разработка системы контроля удалённого доступа на основе анализа траектории изменения сигнала BLE-меток</a:t>
            </a:r>
            <a:endParaRPr lang="en-US" sz="3100" dirty="0"/>
          </a:p>
        </p:txBody>
      </p:sp>
      <p:sp>
        <p:nvSpPr>
          <p:cNvPr id="12" name="Text 10"/>
          <p:cNvSpPr/>
          <p:nvPr/>
        </p:nvSpPr>
        <p:spPr>
          <a:xfrm>
            <a:off x="1005840" y="461772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Выполнил
</a:t>
            </a:r>
            <a:endParaRPr lang="en-US" sz="1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Сульдин Андрей Валентинович
</a:t>
            </a:r>
            <a:endParaRPr lang="en-US" sz="1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Группа [указать номер]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309360" y="461772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Научный руководитель
</a:t>
            </a:r>
            <a:endParaRPr lang="en-US" sz="1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Годовников Евгений Александрович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0" y="630936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CFE3F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Ханты-Мансийск ·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E9A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 · ВВЕДЕНИЕ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Актуальность темы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457200" cy="457200"/>
          </a:xfrm>
          <a:prstGeom prst="ellipse">
            <a:avLst/>
          </a:prstGeom>
          <a:solidFill>
            <a:srgbClr val="0E9AA7"/>
          </a:solidFill>
          <a:ln/>
          <a:effectLst>
            <a:outerShdw sx="100000" sy="100000" kx="0" ky="0" algn="bl" rotWithShape="0" blurRad="114300" dist="38100" dir="8100000">
              <a:srgbClr val="0E2A47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280160" y="1545336"/>
            <a:ext cx="6126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 «по присутствию»
</a:t>
            </a:r>
            <a:endParaRPr lang="en-US" sz="15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Бесконтактные СКУД на BLE востребованы: поддержка во всех смартфонах, доступ предоставляется автоматически при приближении носителя.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457200" cy="457200"/>
          </a:xfrm>
          <a:prstGeom prst="ellipse">
            <a:avLst/>
          </a:prstGeom>
          <a:solidFill>
            <a:srgbClr val="0E9AA7"/>
          </a:solidFill>
          <a:ln/>
          <a:effectLst>
            <a:outerShdw sx="100000" sy="100000" kx="0" ky="0" algn="bl" rotWithShape="0" blurRad="114300" dist="38100" dir="8100000">
              <a:srgbClr val="0E2A47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280160" y="2688336"/>
            <a:ext cx="6126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Сигнал RSSI зашумлён
</a:t>
            </a:r>
            <a:endParaRPr lang="en-US" sz="15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Переотражения, экранирование телом, ориентация антенны и помехи искажают уровень сигнала.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40080" y="3886200"/>
            <a:ext cx="457200" cy="457200"/>
          </a:xfrm>
          <a:prstGeom prst="ellipse">
            <a:avLst/>
          </a:prstGeom>
          <a:solidFill>
            <a:srgbClr val="0E9AA7"/>
          </a:solidFill>
          <a:ln/>
          <a:effectLst>
            <a:outerShdw sx="100000" sy="100000" kx="0" ky="0" algn="bl" rotWithShape="0" blurRad="114300" dist="38100" dir="8100000">
              <a:srgbClr val="0E2A47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280160" y="3831336"/>
            <a:ext cx="6126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Порог ненадёжен
</a:t>
            </a:r>
            <a:endParaRPr lang="en-US" sz="15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 по одному мгновенному RSSI даёт ложные срабатывания, реагирует на статичную метку и ретрансляцию.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640080" y="5029200"/>
            <a:ext cx="457200" cy="457200"/>
          </a:xfrm>
          <a:prstGeom prst="ellipse">
            <a:avLst/>
          </a:prstGeom>
          <a:solidFill>
            <a:srgbClr val="2BA84A"/>
          </a:solidFill>
          <a:ln/>
          <a:effectLst>
            <a:outerShdw sx="100000" sy="100000" kx="0" ky="0" algn="bl" rotWithShape="0" blurRad="114300" dist="38100" dir="8100000">
              <a:srgbClr val="0E2A47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5029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280160" y="4974336"/>
            <a:ext cx="6126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 — траектория
</a:t>
            </a:r>
            <a:endParaRPr lang="en-US" sz="15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динамики RSSI во времени (зоны «далеко»/«близко» и удержание) повышает устойчивость к шуму.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7772400" y="1691640"/>
            <a:ext cx="3749040" cy="4160520"/>
          </a:xfrm>
          <a:prstGeom prst="roundRect">
            <a:avLst>
              <a:gd name="adj" fmla="val 2439"/>
            </a:avLst>
          </a:prstGeom>
          <a:solidFill>
            <a:srgbClr val="0E2A47"/>
          </a:solidFill>
          <a:ln/>
          <a:effectLst>
            <a:outerShdw sx="100000" sy="100000" kx="0" ky="0" algn="bl" rotWithShape="0" blurRad="114300" dist="38100" dir="8100000">
              <a:srgbClr val="0E2A47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046720" y="2011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7C2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Ключевая идея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046720" y="2514600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Решение о доступе — по траектории сигнала во времени, а не по одному порогу RSSI.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8046720" y="48920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⟶  устойчивость к шуму и несанкционированным срабатываниям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0634472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E9A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 · ВВЕДЕНИЕ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Цель и задачи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908792" cy="960120"/>
          </a:xfrm>
          <a:prstGeom prst="roundRect">
            <a:avLst>
              <a:gd name="adj" fmla="val 7619"/>
            </a:avLst>
          </a:prstGeom>
          <a:solidFill>
            <a:srgbClr val="EEF3F8"/>
          </a:solidFill>
          <a:ln w="17780">
            <a:solidFill>
              <a:srgbClr val="0E9A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27632"/>
            <a:ext cx="104515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ЦЕЛЬ.  </a:t>
            </a:r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Разработать систему контроля удалённого доступа, принимающую решение на основе анализа траектории изменения сигнала BLE-метки, и подтвердить её работоспособность.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788920"/>
            <a:ext cx="420624" cy="420624"/>
          </a:xfrm>
          <a:prstGeom prst="ellipse">
            <a:avLst/>
          </a:prstGeom>
          <a:solidFill>
            <a:srgbClr val="0E2A47"/>
          </a:solidFill>
          <a:ln/>
          <a:effectLst>
            <a:outerShdw sx="100000" sy="100000" kx="0" ky="0" algn="bl" rotWithShape="0" blurRad="114300" dist="38100" dir="8100000">
              <a:srgbClr val="0E2A47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788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234440" y="2770632"/>
            <a:ext cx="10268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Обзор технологии BLE, методов оценки расстояния по RSSI и подходов к контролю доступа; обоснование выбора метода анализа траектории.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538728"/>
            <a:ext cx="420624" cy="420624"/>
          </a:xfrm>
          <a:prstGeom prst="ellipse">
            <a:avLst/>
          </a:prstGeom>
          <a:solidFill>
            <a:srgbClr val="0E2A47"/>
          </a:solidFill>
          <a:ln/>
          <a:effectLst>
            <a:outerShdw sx="100000" sy="100000" kx="0" ky="0" algn="bl" rotWithShape="0" blurRad="114300" dist="38100" dir="8100000">
              <a:srgbClr val="0E2A47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35387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234440" y="3520440"/>
            <a:ext cx="10268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Разработка модели и архитектуры системы контроля доступа.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288536"/>
            <a:ext cx="420624" cy="420624"/>
          </a:xfrm>
          <a:prstGeom prst="ellipse">
            <a:avLst/>
          </a:prstGeom>
          <a:solidFill>
            <a:srgbClr val="0E2A47"/>
          </a:solidFill>
          <a:ln/>
          <a:effectLst>
            <a:outerShdw sx="100000" sy="100000" kx="0" ky="0" algn="bl" rotWithShape="0" blurRad="114300" dist="38100" dir="8100000">
              <a:srgbClr val="0E2A47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42885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234440" y="4270248"/>
            <a:ext cx="10268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Разработка алгоритма анализа траектории RSSI: зоны «далеко»/«близко», подсчёт удержания, решение по гистерезису.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5038344"/>
            <a:ext cx="420624" cy="420624"/>
          </a:xfrm>
          <a:prstGeom prst="ellipse">
            <a:avLst/>
          </a:prstGeom>
          <a:solidFill>
            <a:srgbClr val="0E2A47"/>
          </a:solidFill>
          <a:ln/>
          <a:effectLst>
            <a:outerShdw sx="100000" sy="100000" kx="0" ky="0" algn="bl" rotWithShape="0" blurRad="114300" dist="38100" dir="8100000">
              <a:srgbClr val="0E2A47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" y="50383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234440" y="5020056"/>
            <a:ext cx="10268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Реализация компонентов: генератор и сканер меток, анализатор траектории, мобильное приложение, исполнительный модуль управления замком.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5788152"/>
            <a:ext cx="420624" cy="420624"/>
          </a:xfrm>
          <a:prstGeom prst="ellipse">
            <a:avLst/>
          </a:prstGeom>
          <a:solidFill>
            <a:srgbClr val="0E2A47"/>
          </a:solidFill>
          <a:ln/>
          <a:effectLst>
            <a:outerShdw sx="100000" sy="100000" kx="0" ky="0" algn="bl" rotWithShape="0" blurRad="114300" dist="38100" dir="8100000">
              <a:srgbClr val="0E2A47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0080" y="57881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234440" y="5769864"/>
            <a:ext cx="10268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Тестирование системы и оценка работоспособности (имитационное моделирование и натурные измерения).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634472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E9A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 · ВВЕДЕНИЕ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Объект и предмет исследования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5780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  <a:effectLst>
            <a:outerShdw sx="100000" sy="100000" kx="0" ky="0" algn="bl" rotWithShape="0" blurRad="114300" dist="38100" dir="8100000">
              <a:srgbClr val="0E2A47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194560"/>
            <a:ext cx="822960" cy="822960"/>
          </a:xfrm>
          <a:prstGeom prst="ellipse">
            <a:avLst/>
          </a:prstGeom>
          <a:solidFill>
            <a:srgbClr val="0E9AA7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194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011680" y="23317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2A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Объект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51560" y="3291840"/>
            <a:ext cx="4480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Системы контроля и управления удалённым доступом, использующие беспроводные BLE-метки.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0" y="1783080"/>
            <a:ext cx="525780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  <a:effectLst>
            <a:outerShdw sx="100000" sy="100000" kx="0" ky="0" algn="bl" rotWithShape="0" blurRad="114300" dist="38100" dir="8100000">
              <a:srgbClr val="0E2A47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766560" y="2194560"/>
            <a:ext cx="822960" cy="822960"/>
          </a:xfrm>
          <a:prstGeom prst="ellipse">
            <a:avLst/>
          </a:prstGeom>
          <a:solidFill>
            <a:srgbClr val="2BA84A"/>
          </a:solidFill>
          <a:ln/>
        </p:spPr>
      </p:sp>
      <p:sp>
        <p:nvSpPr>
          <p:cNvPr id="11" name="Text 9"/>
          <p:cNvSpPr/>
          <p:nvPr/>
        </p:nvSpPr>
        <p:spPr>
          <a:xfrm>
            <a:off x="6766560" y="2194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772400" y="23317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2A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Предмет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812280" y="3291840"/>
            <a:ext cx="4480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Методы и алгоритмы анализа траектории изменения уровня сигнала (RSSI) BLE-меток во времени для принятия решения о предоставлении доступа.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634472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E9A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 · ВВЕДЕНИЕ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Методы и средства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9A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Методы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2121408"/>
            <a:ext cx="146304" cy="146304"/>
          </a:xfrm>
          <a:prstGeom prst="ellipse">
            <a:avLst/>
          </a:prstGeom>
          <a:solidFill>
            <a:srgbClr val="0E9AA7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02536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Системный анализ и классификация при обзоре предметной области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85800" y="2962656"/>
            <a:ext cx="146304" cy="146304"/>
          </a:xfrm>
          <a:prstGeom prst="ellipse">
            <a:avLst/>
          </a:prstGeom>
          <a:solidFill>
            <a:srgbClr val="0E9AA7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2843784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Модульное проектирование архитектуры системы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85800" y="3803904"/>
            <a:ext cx="146304" cy="146304"/>
          </a:xfrm>
          <a:prstGeom prst="ellipse">
            <a:avLst/>
          </a:prstGeom>
          <a:solidFill>
            <a:srgbClr val="0E9AA7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368503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Гистерезис зон сигнала и аппарат конечных автоматов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85800" y="4645152"/>
            <a:ext cx="146304" cy="146304"/>
          </a:xfrm>
          <a:prstGeom prst="ellipse">
            <a:avLst/>
          </a:prstGeom>
          <a:solidFill>
            <a:srgbClr val="0E9AA7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45262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Имитационное моделирование и натурные измерения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17220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A8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Технологии и инструменты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172200" y="2057400"/>
            <a:ext cx="2697480" cy="566928"/>
          </a:xfrm>
          <a:prstGeom prst="roundRect">
            <a:avLst>
              <a:gd name="adj" fmla="val 12903"/>
            </a:avLst>
          </a:prstGeom>
          <a:solidFill>
            <a:srgbClr val="EEF3F8"/>
          </a:solidFill>
          <a:ln w="12700">
            <a:solidFill>
              <a:srgbClr val="D4DE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205740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· Dart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034272" y="2057400"/>
            <a:ext cx="2697480" cy="566928"/>
          </a:xfrm>
          <a:prstGeom prst="roundRect">
            <a:avLst>
              <a:gd name="adj" fmla="val 12903"/>
            </a:avLst>
          </a:prstGeom>
          <a:solidFill>
            <a:srgbClr val="EEF3F8"/>
          </a:solidFill>
          <a:ln w="12700">
            <a:solidFill>
              <a:srgbClr val="D4DE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25712" y="205740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72200" y="2788920"/>
            <a:ext cx="2697480" cy="566928"/>
          </a:xfrm>
          <a:prstGeom prst="roundRect">
            <a:avLst>
              <a:gd name="adj" fmla="val 12903"/>
            </a:avLst>
          </a:prstGeom>
          <a:solidFill>
            <a:srgbClr val="EEF3F8"/>
          </a:solidFill>
          <a:ln w="12700">
            <a:solidFill>
              <a:srgbClr val="D4DE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63640" y="278892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flutter_blue_plus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034272" y="2788920"/>
            <a:ext cx="2697480" cy="566928"/>
          </a:xfrm>
          <a:prstGeom prst="roundRect">
            <a:avLst>
              <a:gd name="adj" fmla="val 12903"/>
            </a:avLst>
          </a:prstGeom>
          <a:solidFill>
            <a:srgbClr val="EEF3F8"/>
          </a:solidFill>
          <a:ln w="12700">
            <a:solidFill>
              <a:srgbClr val="D4DE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25712" y="278892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flutter_ble_peripheral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172200" y="3520440"/>
            <a:ext cx="2697480" cy="566928"/>
          </a:xfrm>
          <a:prstGeom prst="roundRect">
            <a:avLst>
              <a:gd name="adj" fmla="val 12903"/>
            </a:avLst>
          </a:prstGeom>
          <a:solidFill>
            <a:srgbClr val="EEF3F8"/>
          </a:solidFill>
          <a:ln w="12700">
            <a:solidFill>
              <a:srgbClr val="D4DE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63640" y="352044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permission_handler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9034272" y="3520440"/>
            <a:ext cx="2697480" cy="566928"/>
          </a:xfrm>
          <a:prstGeom prst="roundRect">
            <a:avLst>
              <a:gd name="adj" fmla="val 12903"/>
            </a:avLst>
          </a:prstGeom>
          <a:solidFill>
            <a:srgbClr val="EEF3F8"/>
          </a:solidFill>
          <a:ln w="12700">
            <a:solidFill>
              <a:srgbClr val="D4DE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25712" y="352044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shared_preferences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172200" y="4251960"/>
            <a:ext cx="2697480" cy="566928"/>
          </a:xfrm>
          <a:prstGeom prst="roundRect">
            <a:avLst>
              <a:gd name="adj" fmla="val 12903"/>
            </a:avLst>
          </a:prstGeom>
          <a:solidFill>
            <a:srgbClr val="EEF3F8"/>
          </a:solidFill>
          <a:ln w="12700">
            <a:solidFill>
              <a:srgbClr val="D4DE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63640" y="425196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· HMAC-SHA256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9034272" y="4251960"/>
            <a:ext cx="2697480" cy="566928"/>
          </a:xfrm>
          <a:prstGeom prst="roundRect">
            <a:avLst>
              <a:gd name="adj" fmla="val 12903"/>
            </a:avLst>
          </a:prstGeom>
          <a:solidFill>
            <a:srgbClr val="EEF3F8"/>
          </a:solidFill>
          <a:ln w="12700">
            <a:solidFill>
              <a:srgbClr val="D4DE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25712" y="425196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HM-10 · BLE → RS-485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172200" y="5074920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Единая кодовая база (Flutter) — весь цикл в одном приложении: генерация метки, приём и анализ сигнала, решение и отправка команды замку.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634472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E9A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ГЛАВА 1 · АНАЛИТИЧЕСКАЯ ЧАСТЬ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Сравнение подходов к принятию решения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91440" cy="1417320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5" name="Text 3"/>
          <p:cNvSpPr/>
          <p:nvPr/>
        </p:nvSpPr>
        <p:spPr>
          <a:xfrm>
            <a:off x="896112" y="16916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Пороговый подход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96112" y="2075688"/>
            <a:ext cx="5120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 при превышении порога RSSI. Реагирует на любой сильный сигнал → ложные срабатывания на шуме, статичной метке и ретрансляции.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337560"/>
            <a:ext cx="91440" cy="1417320"/>
          </a:xfrm>
          <a:prstGeom prst="rect">
            <a:avLst/>
          </a:prstGeom>
          <a:solidFill>
            <a:srgbClr val="2BA84A"/>
          </a:solidFill>
          <a:ln/>
        </p:spPr>
      </p:sp>
      <p:sp>
        <p:nvSpPr>
          <p:cNvPr id="8" name="Text 6"/>
          <p:cNvSpPr/>
          <p:nvPr/>
        </p:nvSpPr>
        <p:spPr>
          <a:xfrm>
            <a:off x="896112" y="33375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Анализ траектории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96112" y="3721608"/>
            <a:ext cx="5120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Требует характерной динамики «далеко → близко» с удержанием в зонах. Случайные всплески сигнала отсекаются.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5029200"/>
            <a:ext cx="5440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 выбрана среди беспроводных технологий (RFID/NFC/UWB/Wi-Fi): дальность единицы–десятки метров, энергоэффективность и поддержка в смартфонах (таблица 1).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55080" y="1941728"/>
            <a:ext cx="5394960" cy="3065983"/>
          </a:xfrm>
          <a:prstGeom prst="roundRect">
            <a:avLst>
              <a:gd name="adj" fmla="val 1789"/>
            </a:avLst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  <a:effectLst>
            <a:outerShdw sx="100000" sy="100000" kx="0" ky="0" algn="bl" rotWithShape="0" blurRad="114300" dist="38100" dir="8100000">
              <a:srgbClr val="0E2A47">
                <a:alpha val="18000"/>
              </a:srgbClr>
            </a:outerShdw>
          </a:effectLst>
        </p:spPr>
      </p:sp>
      <p:pic>
        <p:nvPicPr>
          <p:cNvPr id="12" name="Image 0" descr="pres_img/img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64808" y="2051456"/>
            <a:ext cx="5175504" cy="2846527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355080" y="534924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Рис. — пороговый подход даёт ложное срабатывание; анализ траектории — отказ.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0634472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E9A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ГЛАВА 2 · ПРОЕКТНАЯ ЧАСТЬ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Архитектура системы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420624" cy="420624"/>
          </a:xfrm>
          <a:prstGeom prst="ellipse">
            <a:avLst/>
          </a:prstGeom>
          <a:solidFill>
            <a:srgbClr val="0E2A47"/>
          </a:solidFill>
          <a:ln/>
          <a:effectLst>
            <a:outerShdw sx="100000" sy="100000" kx="0" ky="0" algn="bl" rotWithShape="0" blurRad="114300" dist="38100" dir="8100000">
              <a:srgbClr val="0E2A47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874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207008" y="1837944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Сканер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приём рекламных пакетов BLE и измерение RSSI(t)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044952"/>
            <a:ext cx="420624" cy="420624"/>
          </a:xfrm>
          <a:prstGeom prst="ellipse">
            <a:avLst/>
          </a:prstGeom>
          <a:solidFill>
            <a:srgbClr val="0E2A47"/>
          </a:solidFill>
          <a:ln/>
          <a:effectLst>
            <a:outerShdw sx="100000" sy="100000" kx="0" ky="0" algn="bl" rotWithShape="0" blurRad="114300" dist="38100" dir="8100000">
              <a:srgbClr val="0E2A47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30449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207008" y="3008376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Анализатор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анализ траектории, сверка с базой авторизованных, решение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4215384"/>
            <a:ext cx="420624" cy="420624"/>
          </a:xfrm>
          <a:prstGeom prst="ellipse">
            <a:avLst/>
          </a:prstGeom>
          <a:solidFill>
            <a:srgbClr val="0E2A47"/>
          </a:solidFill>
          <a:ln/>
          <a:effectLst>
            <a:outerShdw sx="100000" sy="100000" kx="0" ky="0" algn="bl" rotWithShape="0" blurRad="114300" dist="38100" dir="8100000">
              <a:srgbClr val="0E2A47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42153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207008" y="4178808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Исполнитель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модуль HM-10: мост BLE → RS-485 к контроллеру замка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544068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Модульность: ядро решения (гистерезис) отделено от интерфейса и тестируется автономно.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166360" y="1839409"/>
            <a:ext cx="6583680" cy="3864982"/>
          </a:xfrm>
          <a:prstGeom prst="roundRect">
            <a:avLst>
              <a:gd name="adj" fmla="val 1420"/>
            </a:avLst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  <a:effectLst>
            <a:outerShdw sx="100000" sy="100000" kx="0" ky="0" algn="bl" rotWithShape="0" blurRad="114300" dist="38100" dir="8100000">
              <a:srgbClr val="0E2A47">
                <a:alpha val="18000"/>
              </a:srgbClr>
            </a:outerShdw>
          </a:effectLst>
        </p:spPr>
      </p:sp>
      <p:pic>
        <p:nvPicPr>
          <p:cNvPr id="15" name="Image 0" descr="pres_img/img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76088" y="1949137"/>
            <a:ext cx="6364224" cy="3645526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166360" y="5779008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Рис. 3 — структурная схема системы контроля доступа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0634472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E9A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ГЛАВА 2 · ПРОЕКТНАЯ ЧАСТЬ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Алгоритм: гистерезис зон сигнала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420624" cy="420624"/>
          </a:xfrm>
          <a:prstGeom prst="ellipse">
            <a:avLst/>
          </a:prstGeom>
          <a:solidFill>
            <a:srgbClr val="0E9AA7"/>
          </a:solidFill>
          <a:ln/>
          <a:effectLst>
            <a:outerShdw sx="100000" sy="100000" kx="0" ky="0" algn="bl" rotWithShape="0" blurRad="114300" dist="38100" dir="8100000">
              <a:srgbClr val="0E2A47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828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207008" y="1792224"/>
            <a:ext cx="5852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Две зоны по порогам RSSI
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«далеко» (B) и «близко» (A); между ними — зона нечувствительности.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907792"/>
            <a:ext cx="420624" cy="420624"/>
          </a:xfrm>
          <a:prstGeom prst="ellipse">
            <a:avLst/>
          </a:prstGeom>
          <a:solidFill>
            <a:srgbClr val="0E9AA7"/>
          </a:solidFill>
          <a:ln/>
          <a:effectLst>
            <a:outerShdw sx="100000" sy="100000" kx="0" ky="0" algn="bl" rotWithShape="0" blurRad="114300" dist="38100" dir="8100000">
              <a:srgbClr val="0E2A47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29077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207008" y="2871216"/>
            <a:ext cx="5852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Счётчики удержания
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«взвод» при удержании «далеко», A — удержание «близко».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986784"/>
            <a:ext cx="420624" cy="420624"/>
          </a:xfrm>
          <a:prstGeom prst="ellipse">
            <a:avLst/>
          </a:prstGeom>
          <a:solidFill>
            <a:srgbClr val="0E9AA7"/>
          </a:solidFill>
          <a:ln/>
          <a:effectLst>
            <a:outerShdw sx="100000" sy="100000" kx="0" ky="0" algn="bl" rotWithShape="0" blurRad="114300" dist="38100" dir="8100000">
              <a:srgbClr val="0E2A47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39867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207008" y="3950208"/>
            <a:ext cx="5852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Условие доступа
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удержание «близко» (A &gt; Y) после взвода «далеко» (B &gt; X), с защёлкой гистерезиса.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5065776"/>
            <a:ext cx="420624" cy="420624"/>
          </a:xfrm>
          <a:prstGeom prst="ellipse">
            <a:avLst/>
          </a:prstGeom>
          <a:solidFill>
            <a:srgbClr val="0E9AA7"/>
          </a:solidFill>
          <a:ln/>
          <a:effectLst>
            <a:outerShdw sx="100000" sy="100000" kx="0" ky="0" algn="bl" rotWithShape="0" blurRad="114300" dist="38100" dir="8100000">
              <a:srgbClr val="0E2A47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50657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207008" y="5029200"/>
            <a:ext cx="5852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фильтрации сигнала
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 фильтра Калмана, ни сглаживания — устойчивость обеспечивает сама логика.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955280" y="1727302"/>
            <a:ext cx="3749040" cy="4454957"/>
          </a:xfrm>
          <a:prstGeom prst="roundRect">
            <a:avLst>
              <a:gd name="adj" fmla="val 1463"/>
            </a:avLst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  <a:effectLst>
            <a:outerShdw sx="100000" sy="100000" kx="0" ky="0" algn="bl" rotWithShape="0" blurRad="114300" dist="38100" dir="8100000">
              <a:srgbClr val="0E2A47">
                <a:alpha val="18000"/>
              </a:srgbClr>
            </a:outerShdw>
          </a:effectLst>
        </p:spPr>
      </p:sp>
      <p:pic>
        <p:nvPicPr>
          <p:cNvPr id="17" name="Image 0" descr="pres_img/al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5008" y="1837030"/>
            <a:ext cx="3529584" cy="4235501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0634472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E9A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ГЛАВА 3 · РЕАЛИЗАЦИЯ И ТЕСТИРОВАНИЕ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Реализация и тестирование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77958" y="1600200"/>
            <a:ext cx="1873084" cy="3886200"/>
          </a:xfrm>
          <a:prstGeom prst="roundRect">
            <a:avLst>
              <a:gd name="adj" fmla="val 2929"/>
            </a:avLst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  <a:effectLst>
            <a:outerShdw sx="100000" sy="100000" kx="0" ky="0" algn="bl" rotWithShape="0" blurRad="114300" dist="38100" dir="8100000">
              <a:srgbClr val="0E2A47">
                <a:alpha val="18000"/>
              </a:srgbClr>
            </a:outerShdw>
          </a:effectLst>
        </p:spPr>
      </p:sp>
      <p:pic>
        <p:nvPicPr>
          <p:cNvPr id="5" name="Image 0" descr="pres_img/img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1110" y="1673352"/>
            <a:ext cx="1726780" cy="3739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50468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Вкладка «Сканер»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3155398" y="1600200"/>
            <a:ext cx="1873084" cy="3886200"/>
          </a:xfrm>
          <a:prstGeom prst="roundRect">
            <a:avLst>
              <a:gd name="adj" fmla="val 2929"/>
            </a:avLst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  <a:effectLst>
            <a:outerShdw sx="100000" sy="100000" kx="0" ky="0" algn="bl" rotWithShape="0" blurRad="114300" dist="38100" dir="8100000">
              <a:srgbClr val="0E2A47">
                <a:alpha val="18000"/>
              </a:srgbClr>
            </a:outerShdw>
          </a:effectLst>
        </p:spPr>
      </p:sp>
      <p:pic>
        <p:nvPicPr>
          <p:cNvPr id="8" name="Image 1" descr="pres_img/img0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8550" y="1673352"/>
            <a:ext cx="1726780" cy="3739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926080" y="550468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Вкладка «Шлюз»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6214179" y="1554480"/>
            <a:ext cx="4808081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  <a:effectLst>
            <a:outerShdw sx="100000" sy="100000" kx="0" ky="0" algn="bl" rotWithShape="0" blurRad="114300" dist="38100" dir="8100000">
              <a:srgbClr val="0E2A47">
                <a:alpha val="18000"/>
              </a:srgbClr>
            </a:outerShdw>
          </a:effectLst>
        </p:spPr>
      </p:sp>
      <p:pic>
        <p:nvPicPr>
          <p:cNvPr id="11" name="Image 2" descr="pres_img/img07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3907" y="1664208"/>
            <a:ext cx="4588625" cy="252374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486400" y="4315968"/>
            <a:ext cx="6263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Имитационное моделирование: доступ при приближении, сброс при удалении.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5532120" y="4846320"/>
            <a:ext cx="146304" cy="146304"/>
          </a:xfrm>
          <a:prstGeom prst="ellipse">
            <a:avLst/>
          </a:prstGeom>
          <a:solidFill>
            <a:srgbClr val="2BA84A"/>
          </a:solidFill>
          <a:ln/>
        </p:spPr>
      </p:sp>
      <p:sp>
        <p:nvSpPr>
          <p:cNvPr id="14" name="Text 9"/>
          <p:cNvSpPr/>
          <p:nvPr/>
        </p:nvSpPr>
        <p:spPr>
          <a:xfrm>
            <a:off x="5897880" y="4736592"/>
            <a:ext cx="5897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 предоставляется при целенаправленном приближении; на статичной метке — ноль ложных срабатываний.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5532120" y="5440680"/>
            <a:ext cx="146304" cy="146304"/>
          </a:xfrm>
          <a:prstGeom prst="ellipse">
            <a:avLst/>
          </a:prstGeom>
          <a:solidFill>
            <a:srgbClr val="2BA84A"/>
          </a:solidFill>
          <a:ln/>
        </p:spPr>
      </p:sp>
      <p:sp>
        <p:nvSpPr>
          <p:cNvPr id="16" name="Text 11"/>
          <p:cNvSpPr/>
          <p:nvPr/>
        </p:nvSpPr>
        <p:spPr>
          <a:xfrm>
            <a:off x="5897880" y="5330952"/>
            <a:ext cx="5897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Натурный проход носителя и проверка канала управления (HM-10, петлевой тест) подтверждены.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5486400" y="5989320"/>
            <a:ext cx="6263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Подробная демонстрация работы приложения — после доклада.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10634472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280160"/>
            <a:ext cx="2743200" cy="2743200"/>
          </a:xfrm>
          <a:prstGeom prst="ellipse">
            <a:avLst/>
          </a:prstGeom>
          <a:solidFill>
            <a:srgbClr val="0E2A47">
              <a:alpha val="0"/>
            </a:srgbClr>
          </a:solidFill>
          <a:ln w="16510">
            <a:solidFill>
              <a:srgbClr val="27C2B6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-914400"/>
            <a:ext cx="2011680" cy="2011680"/>
          </a:xfrm>
          <a:prstGeom prst="ellipse">
            <a:avLst/>
          </a:prstGeom>
          <a:solidFill>
            <a:srgbClr val="0E2A47">
              <a:alpha val="0"/>
            </a:srgbClr>
          </a:solidFill>
          <a:ln w="16510">
            <a:solidFill>
              <a:srgbClr val="27C2B6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548640" y="-548640"/>
            <a:ext cx="1280160" cy="1280160"/>
          </a:xfrm>
          <a:prstGeom prst="ellipse">
            <a:avLst/>
          </a:prstGeom>
          <a:solidFill>
            <a:srgbClr val="0E2A47">
              <a:alpha val="0"/>
            </a:srgbClr>
          </a:solidFill>
          <a:ln w="16510">
            <a:solidFill>
              <a:srgbClr val="27C2B6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45720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7C2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ЗАКЛЮЧЕНИЕ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841248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Цель достигнута — система разработана и работоспособность подтверждена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6766560" cy="914400"/>
          </a:xfrm>
          <a:prstGeom prst="roundRect">
            <a:avLst>
              <a:gd name="adj" fmla="val 8000"/>
            </a:avLst>
          </a:prstGeom>
          <a:solidFill>
            <a:srgbClr val="16395E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9202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C2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Разработано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651760" y="19202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системы и алгоритм анализа траектории на основе гистерезиса зон сигнала.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944368"/>
            <a:ext cx="6766560" cy="914400"/>
          </a:xfrm>
          <a:prstGeom prst="roundRect">
            <a:avLst>
              <a:gd name="adj" fmla="val 8000"/>
            </a:avLst>
          </a:prstGeom>
          <a:solidFill>
            <a:srgbClr val="16395E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944368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C2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Реализовано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651760" y="2944368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мобильное приложение (Flutter, Android): сканер, генератор и метка, управление замком BLE → RS-485; rolling-code и доступ по звонку.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968496"/>
            <a:ext cx="6766560" cy="914400"/>
          </a:xfrm>
          <a:prstGeom prst="roundRect">
            <a:avLst>
              <a:gd name="adj" fmla="val 8000"/>
            </a:avLst>
          </a:prstGeom>
          <a:solidFill>
            <a:srgbClr val="16395E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968496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C2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Проведено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651760" y="3968496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тестирование (моделирование + натурные измерения): корректный доступ при приближении, отсутствие ложных срабатываний.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0" y="1920240"/>
            <a:ext cx="3749040" cy="1481328"/>
          </a:xfrm>
          <a:prstGeom prst="roundRect">
            <a:avLst>
              <a:gd name="adj" fmla="val 4938"/>
            </a:avLst>
          </a:prstGeom>
          <a:solidFill>
            <a:srgbClr val="0E9AA7"/>
          </a:solidFill>
          <a:ln/>
        </p:spPr>
      </p:sp>
      <p:sp>
        <p:nvSpPr>
          <p:cNvPr id="17" name="Text 15"/>
          <p:cNvSpPr/>
          <p:nvPr/>
        </p:nvSpPr>
        <p:spPr>
          <a:xfrm>
            <a:off x="8001000" y="2084832"/>
            <a:ext cx="3337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Практическая значимость
</a:t>
            </a:r>
            <a:endParaRPr lang="en-US" sz="13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Бесконтактный контроль доступа на одной точке прохода без развёртывания дополнительной инфраструктуры.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0" y="36118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C2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Перспективы развития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818120" y="4041648"/>
            <a:ext cx="118872" cy="118872"/>
          </a:xfrm>
          <a:prstGeom prst="ellipse">
            <a:avLst/>
          </a:prstGeom>
          <a:solidFill>
            <a:srgbClr val="27C2B6"/>
          </a:solidFill>
          <a:ln/>
        </p:spPr>
      </p:sp>
      <p:sp>
        <p:nvSpPr>
          <p:cNvPr id="20" name="Text 18"/>
          <p:cNvSpPr/>
          <p:nvPr/>
        </p:nvSpPr>
        <p:spPr>
          <a:xfrm>
            <a:off x="8092440" y="395020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Несколько приёмников — оценка координат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818120" y="4425696"/>
            <a:ext cx="118872" cy="118872"/>
          </a:xfrm>
          <a:prstGeom prst="ellipse">
            <a:avLst/>
          </a:prstGeom>
          <a:solidFill>
            <a:srgbClr val="27C2B6"/>
          </a:solidFill>
          <a:ln/>
        </p:spPr>
      </p:sp>
      <p:sp>
        <p:nvSpPr>
          <p:cNvPr id="22" name="Text 20"/>
          <p:cNvSpPr/>
          <p:nvPr/>
        </p:nvSpPr>
        <p:spPr>
          <a:xfrm>
            <a:off x="8092440" y="433425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ML-классификация траекторий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818120" y="4809744"/>
            <a:ext cx="118872" cy="118872"/>
          </a:xfrm>
          <a:prstGeom prst="ellipse">
            <a:avLst/>
          </a:prstGeom>
          <a:solidFill>
            <a:srgbClr val="27C2B6"/>
          </a:solidFill>
          <a:ln/>
        </p:spPr>
      </p:sp>
      <p:sp>
        <p:nvSpPr>
          <p:cNvPr id="24" name="Text 22"/>
          <p:cNvSpPr/>
          <p:nvPr/>
        </p:nvSpPr>
        <p:spPr>
          <a:xfrm>
            <a:off x="8092440" y="471830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Защита от атак ретрансляции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818120" y="5193792"/>
            <a:ext cx="118872" cy="118872"/>
          </a:xfrm>
          <a:prstGeom prst="ellipse">
            <a:avLst/>
          </a:prstGeom>
          <a:solidFill>
            <a:srgbClr val="27C2B6"/>
          </a:solidFill>
          <a:ln/>
        </p:spPr>
      </p:sp>
      <p:sp>
        <p:nvSpPr>
          <p:cNvPr id="26" name="Text 24"/>
          <p:cNvSpPr/>
          <p:nvPr/>
        </p:nvSpPr>
        <p:spPr>
          <a:xfrm>
            <a:off x="8092440" y="510235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Интеграция с существующими СКУД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" y="61722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Спасибо за внимание!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531352" y="6217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Сульдин А.В. ·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ВКР — система контроля доступа по траектории BLE</dc:title>
  <dc:subject>PptxGenJS Presentation</dc:subject>
  <dc:creator>Сульдин А.В.</dc:creator>
  <cp:lastModifiedBy>Сульдин А.В.</cp:lastModifiedBy>
  <cp:revision>1</cp:revision>
  <dcterms:created xsi:type="dcterms:W3CDTF">2026-06-18T17:01:49Z</dcterms:created>
  <dcterms:modified xsi:type="dcterms:W3CDTF">2026-06-18T17:01:49Z</dcterms:modified>
</cp:coreProperties>
</file>